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" id="{77272b8c-d861-e37a-a987-840a6089bbcf}">
          <p14:sldIdLst>
            <p14:sldId id="256"/>
          </p14:sldIdLst>
        </p14:section>
        <p14:section name="Understanding" id="{3cac9c03-51fa-6b38-79ff-753ce461b21f}">
          <p14:sldIdLst>
            <p14:sldId id="257"/>
            <p14:sldId id="258"/>
          </p14:sldIdLst>
        </p14:section>
        <p14:section name="Approach" id="{24a62802-211c-02c5-4f04-24a23f27dd1a}">
          <p14:sldIdLst>
            <p14:sldId id="259"/>
          </p14:sldIdLst>
        </p14:section>
        <p14:section name="Proof" id="{b92be346-b5fb-5595-c164-775f368334c2}">
          <p14:sldIdLst>
            <p14:sldId id="260"/>
          </p14:sldIdLst>
        </p14:section>
        <p14:section name="Commercials" id="{ca80079c-8808-73da-48c2-c3665dce1077}">
          <p14:sldIdLst>
            <p14:sldId id="261"/>
          </p14:sldIdLst>
        </p14:section>
        <p14:section name="Close" id="{76f39c63-3ca5-65d0-4818-6f0025c5ed2f}">
          <p14:sldIdLst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Name the client, not yourself. The title slide is about their problem.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6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0D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548640"/>
            <a:ext cx="2103120" cy="726948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58368" y="2240280"/>
            <a:ext cx="10241280" cy="1920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8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6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58368" y="4297680"/>
            <a:ext cx="82296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C9C3B4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658368" y="5897880"/>
            <a:ext cx="82296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spc="200" kern="0" dirty="0">
                <a:solidFill>
                  <a:srgbClr val="8A8474"/>
                </a:solidFill>
              </a:defRPr>
            </a:lvl1pPr>
          </a:lstStyle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6" name="Shape 0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FFC800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_DARK">
    <p:bg>
      <p:bgPr>
        <a:solidFill>
          <a:srgbClr val="0D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58368" y="2606040"/>
            <a:ext cx="82296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b="1" spc="400" kern="0" dirty="0">
                <a:solidFill>
                  <a:srgbClr val="FFC800"/>
                </a:solidFill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58368" y="3017520"/>
            <a:ext cx="1024128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6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600" dirty="0"/>
          </a:p>
        </p:txBody>
      </p:sp>
      <p:pic>
        <p:nvPicPr>
          <p:cNvPr id="4" name="Image 0" descr="logo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0" y="5852160"/>
            <a:ext cx="1188720" cy="410566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FFC800"/>
          </a:solidFill>
          <a:ln/>
        </p:spPr>
      </p:sp>
      <p:sp>
        <p:nvSpPr>
          <p:cNvPr id="6" name="Text 1"/>
          <p:cNvSpPr/>
          <p:nvPr>
            <p:ph idx="104" hasCustomPrompt="1"/>
          </p:nvPr>
        </p:nvSpPr>
        <p:spPr>
          <a:xfrm>
            <a:off x="658368" y="5989320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dirty="0">
                <a:solidFill>
                  <a:srgbClr val="6F6A5D"/>
                </a:solidFill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58368" y="475488"/>
            <a:ext cx="1024128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pic>
        <p:nvPicPr>
          <p:cNvPr id="3" name="Image 0" descr="logo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6768" y="6053328"/>
            <a:ext cx="868680" cy="299923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2" hasCustomPrompt="1"/>
          </p:nvPr>
        </p:nvSpPr>
        <p:spPr>
          <a:xfrm>
            <a:off x="658368" y="6108192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dirty="0">
                <a:solidFill>
                  <a:srgbClr val="9A9486"/>
                </a:solidFill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58368" y="475488"/>
            <a:ext cx="1024128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pic>
        <p:nvPicPr>
          <p:cNvPr id="3" name="Image 0" descr="logo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6768" y="6053328"/>
            <a:ext cx="868680" cy="299923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2" hasCustomPrompt="1"/>
          </p:nvPr>
        </p:nvSpPr>
        <p:spPr>
          <a:xfrm>
            <a:off x="658368" y="6108192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dirty="0">
                <a:solidFill>
                  <a:srgbClr val="9A9486"/>
                </a:solidFill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_DARK">
    <p:bg>
      <p:bgPr>
        <a:solidFill>
          <a:srgbClr val="0D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58368" y="2286000"/>
            <a:ext cx="102412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000" dirty="0">
                <a:solidFill>
                  <a:srgbClr val="FFC800"/>
                </a:solidFill>
              </a:defRPr>
            </a:lvl1pPr>
          </a:lstStyle>
          <a:p>
            <a:pPr algn="l" indent="0" marL="0">
              <a:buNone/>
            </a:pPr>
            <a:endParaRPr lang="en-US" sz="6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58368" y="3886200"/>
            <a:ext cx="786384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700" dirty="0">
                <a:solidFill>
                  <a:srgbClr val="C9C3B4"/>
                </a:solidFill>
              </a:defRPr>
            </a:lvl1pPr>
          </a:lstStyle>
          <a:p>
            <a:pPr algn="l" indent="0" marL="0">
              <a:buNone/>
            </a:pPr>
            <a:endParaRPr lang="en-US" sz="1700" dirty="0"/>
          </a:p>
        </p:txBody>
      </p:sp>
      <p:pic>
        <p:nvPicPr>
          <p:cNvPr id="4" name="Image 0" descr="logo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0" y="5760720"/>
            <a:ext cx="1188720" cy="410566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FFC800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658368" y="2240280"/>
            <a:ext cx="10241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6800" dirty="0">
                <a:solidFill>
                  <a:schemeClr val="bg1"/>
                </a:solidFill>
              </a:rPr>
              <a:t>CLIENT NAME</a:t>
            </a:r>
            <a:endParaRPr lang="en-US" sz="68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658368" y="42976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9C3B4"/>
                </a:solidFill>
              </a:rPr>
              <a:t>A staffing partnership proposal. Replace this line with the one thing they asked you to solve.</a:t>
            </a:r>
            <a:endParaRPr lang="en-US" sz="18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658368" y="5897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spc="200" kern="0" dirty="0">
                <a:solidFill>
                  <a:srgbClr val="8A8474"/>
                </a:solidFill>
              </a:rPr>
              <a:t>SPARK COMPANIES®  ·  PREPARED FOR [NAME], [DATE]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58368" y="2606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FC800"/>
                </a:solidFill>
              </a:rPr>
              <a:t>WHAT WE HEARD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58368" y="3017520"/>
            <a:ext cx="10241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600" dirty="0">
                <a:solidFill>
                  <a:schemeClr val="bg1"/>
                </a:solidFill>
              </a:rPr>
              <a:t>YOUR SITUATION</a:t>
            </a:r>
            <a:endParaRPr lang="en-US" sz="5600" dirty="0"/>
          </a:p>
        </p:txBody>
      </p:sp>
      <p:sp>
        <p:nvSpPr>
          <p:cNvPr id="4" name="Text 1"/>
          <p:cNvSpPr/>
          <p:nvPr>
            <p:ph idx="104" hasCustomPrompt="1"/>
          </p:nvPr>
        </p:nvSpPr>
        <p:spPr>
          <a:xfrm>
            <a:off x="658368" y="5989320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58368" y="475488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chemeClr val="tx1"/>
                </a:solidFill>
              </a:rPr>
              <a:t>What you told us</a:t>
            </a:r>
            <a:endParaRPr lang="en-US" sz="4000" dirty="0"/>
          </a:p>
        </p:txBody>
      </p:sp>
      <p:sp>
        <p:nvSpPr>
          <p:cNvPr id="3" name="card1"/>
          <p:cNvSpPr/>
          <p:nvPr/>
        </p:nvSpPr>
        <p:spPr>
          <a:xfrm>
            <a:off x="658368" y="1691640"/>
            <a:ext cx="3441192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E7E3D8"/>
            </a:solidFill>
            <a:prstDash val="solid"/>
          </a:ln>
          <a:effectLst>
            <a:outerShdw sx="100000" sy="100000" kx="0" ky="0" algn="bl" rotWithShape="0" blurRad="177800" dist="38100" dir="5400000">
              <a:srgbClr val="141208">
                <a:alpha val="12000"/>
              </a:srgbClr>
            </a:outerShdw>
          </a:effectLst>
        </p:spPr>
      </p:sp>
      <p:sp>
        <p:nvSpPr>
          <p:cNvPr id="4" name="dot1"/>
          <p:cNvSpPr/>
          <p:nvPr/>
        </p:nvSpPr>
        <p:spPr>
          <a:xfrm>
            <a:off x="914400" y="1965960"/>
            <a:ext cx="365760" cy="365760"/>
          </a:xfrm>
          <a:prstGeom prst="ellipse">
            <a:avLst/>
          </a:prstGeom>
          <a:solidFill>
            <a:srgbClr val="FFC80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50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459736"/>
            <a:ext cx="2929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The problem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825496"/>
            <a:ext cx="29291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F6A5D"/>
                </a:solidFill>
              </a:rPr>
              <a:t>Say it back in their words. If they do not recognise it, the rest of the deck does not land.</a:t>
            </a:r>
            <a:endParaRPr lang="en-US" sz="1250" dirty="0"/>
          </a:p>
        </p:txBody>
      </p:sp>
      <p:sp>
        <p:nvSpPr>
          <p:cNvPr id="8" name="card2"/>
          <p:cNvSpPr/>
          <p:nvPr/>
        </p:nvSpPr>
        <p:spPr>
          <a:xfrm>
            <a:off x="4373880" y="1691640"/>
            <a:ext cx="3441192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E7E3D8"/>
            </a:solidFill>
            <a:prstDash val="solid"/>
          </a:ln>
          <a:effectLst>
            <a:outerShdw sx="100000" sy="100000" kx="0" ky="0" algn="bl" rotWithShape="0" blurRad="177800" dist="38100" dir="5400000">
              <a:srgbClr val="141208">
                <a:alpha val="12000"/>
              </a:srgbClr>
            </a:outerShdw>
          </a:effectLst>
        </p:spPr>
      </p:sp>
      <p:sp>
        <p:nvSpPr>
          <p:cNvPr id="9" name="dot2"/>
          <p:cNvSpPr/>
          <p:nvPr/>
        </p:nvSpPr>
        <p:spPr>
          <a:xfrm>
            <a:off x="4629912" y="1965960"/>
            <a:ext cx="365760" cy="365760"/>
          </a:xfrm>
          <a:prstGeom prst="ellipse">
            <a:avLst/>
          </a:prstGeom>
          <a:solidFill>
            <a:srgbClr val="FFC80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629912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50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629912" y="2459736"/>
            <a:ext cx="2929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What it is costing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629912" y="2825496"/>
            <a:ext cx="29291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F6A5D"/>
                </a:solidFill>
              </a:rPr>
              <a:t>Overtime, missed ship dates, agency spend. Use their numbers, not ours.</a:t>
            </a:r>
            <a:endParaRPr lang="en-US" sz="1250" dirty="0"/>
          </a:p>
        </p:txBody>
      </p:sp>
      <p:sp>
        <p:nvSpPr>
          <p:cNvPr id="13" name="card3"/>
          <p:cNvSpPr/>
          <p:nvPr/>
        </p:nvSpPr>
        <p:spPr>
          <a:xfrm>
            <a:off x="8089392" y="1691640"/>
            <a:ext cx="3441192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E7E3D8"/>
            </a:solidFill>
            <a:prstDash val="solid"/>
          </a:ln>
          <a:effectLst>
            <a:outerShdw sx="100000" sy="100000" kx="0" ky="0" algn="bl" rotWithShape="0" blurRad="177800" dist="38100" dir="5400000">
              <a:srgbClr val="141208">
                <a:alpha val="12000"/>
              </a:srgbClr>
            </a:outerShdw>
          </a:effectLst>
        </p:spPr>
      </p:sp>
      <p:sp>
        <p:nvSpPr>
          <p:cNvPr id="14" name="dot3"/>
          <p:cNvSpPr/>
          <p:nvPr/>
        </p:nvSpPr>
        <p:spPr>
          <a:xfrm>
            <a:off x="8345424" y="1965960"/>
            <a:ext cx="365760" cy="365760"/>
          </a:xfrm>
          <a:prstGeom prst="ellipse">
            <a:avLst/>
          </a:prstGeom>
          <a:solidFill>
            <a:srgbClr val="FFC80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345424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50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345424" y="2459736"/>
            <a:ext cx="2929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What you have tried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345424" y="2825496"/>
            <a:ext cx="29291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F6A5D"/>
                </a:solidFill>
              </a:rPr>
              <a:t>Shows you listened, and stops us pitching what already failed.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658368" y="420624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A9486"/>
                </a:solidFill>
              </a:rPr>
              <a:t>Everything after this slide has to answer what is on it.</a:t>
            </a:r>
            <a:endParaRPr lang="en-US" sz="1200" dirty="0"/>
          </a:p>
        </p:txBody>
      </p:sp>
      <p:sp>
        <p:nvSpPr>
          <p:cNvPr id="19" name="Text 0"/>
          <p:cNvSpPr/>
          <p:nvPr>
            <p:ph idx="102" hasCustomPrompt="1"/>
          </p:nvPr>
        </p:nvSpPr>
        <p:spPr>
          <a:xfrm>
            <a:off x="658368" y="6108192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58368" y="475488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chemeClr val="tx1"/>
                </a:solidFill>
              </a:rPr>
              <a:t>How we would run it</a:t>
            </a:r>
            <a:endParaRPr lang="en-US" sz="4000" dirty="0"/>
          </a:p>
        </p:txBody>
      </p:sp>
      <p:sp>
        <p:nvSpPr>
          <p:cNvPr id="3" name="card1"/>
          <p:cNvSpPr/>
          <p:nvPr/>
        </p:nvSpPr>
        <p:spPr>
          <a:xfrm>
            <a:off x="658368" y="1691640"/>
            <a:ext cx="2512314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E7E3D8"/>
            </a:solidFill>
            <a:prstDash val="solid"/>
          </a:ln>
          <a:effectLst>
            <a:outerShdw sx="100000" sy="100000" kx="0" ky="0" algn="bl" rotWithShape="0" blurRad="177800" dist="38100" dir="5400000">
              <a:srgbClr val="141208">
                <a:alpha val="12000"/>
              </a:srgbClr>
            </a:outerShdw>
          </a:effectLst>
        </p:spPr>
      </p:sp>
      <p:sp>
        <p:nvSpPr>
          <p:cNvPr id="4" name="dot1"/>
          <p:cNvSpPr/>
          <p:nvPr/>
        </p:nvSpPr>
        <p:spPr>
          <a:xfrm>
            <a:off x="914400" y="1965960"/>
            <a:ext cx="365760" cy="365760"/>
          </a:xfrm>
          <a:prstGeom prst="ellipse">
            <a:avLst/>
          </a:prstGeom>
          <a:solidFill>
            <a:srgbClr val="FFC80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50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459736"/>
            <a:ext cx="200025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Intake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825496"/>
            <a:ext cx="20002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F6A5D"/>
                </a:solidFill>
              </a:rPr>
              <a:t>Who we talk to, what we need from you, how long it takes.</a:t>
            </a:r>
            <a:endParaRPr lang="en-US" sz="1250" dirty="0"/>
          </a:p>
        </p:txBody>
      </p:sp>
      <p:sp>
        <p:nvSpPr>
          <p:cNvPr id="8" name="card2"/>
          <p:cNvSpPr/>
          <p:nvPr/>
        </p:nvSpPr>
        <p:spPr>
          <a:xfrm>
            <a:off x="3445002" y="1691640"/>
            <a:ext cx="2512314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E7E3D8"/>
            </a:solidFill>
            <a:prstDash val="solid"/>
          </a:ln>
          <a:effectLst>
            <a:outerShdw sx="100000" sy="100000" kx="0" ky="0" algn="bl" rotWithShape="0" blurRad="177800" dist="38100" dir="5400000">
              <a:srgbClr val="141208">
                <a:alpha val="12000"/>
              </a:srgbClr>
            </a:outerShdw>
          </a:effectLst>
        </p:spPr>
      </p:sp>
      <p:sp>
        <p:nvSpPr>
          <p:cNvPr id="9" name="dot2"/>
          <p:cNvSpPr/>
          <p:nvPr/>
        </p:nvSpPr>
        <p:spPr>
          <a:xfrm>
            <a:off x="3701034" y="1965960"/>
            <a:ext cx="365760" cy="365760"/>
          </a:xfrm>
          <a:prstGeom prst="ellipse">
            <a:avLst/>
          </a:prstGeom>
          <a:solidFill>
            <a:srgbClr val="FFC80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701034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50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701034" y="2459736"/>
            <a:ext cx="200025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Sourcing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701034" y="2825496"/>
            <a:ext cx="20002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F6A5D"/>
                </a:solidFill>
              </a:rPr>
              <a:t>Where the candidates come from and why that pool fits.</a:t>
            </a:r>
            <a:endParaRPr lang="en-US" sz="1250" dirty="0"/>
          </a:p>
        </p:txBody>
      </p:sp>
      <p:sp>
        <p:nvSpPr>
          <p:cNvPr id="13" name="card3"/>
          <p:cNvSpPr/>
          <p:nvPr/>
        </p:nvSpPr>
        <p:spPr>
          <a:xfrm>
            <a:off x="6231636" y="1691640"/>
            <a:ext cx="2512314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E7E3D8"/>
            </a:solidFill>
            <a:prstDash val="solid"/>
          </a:ln>
          <a:effectLst>
            <a:outerShdw sx="100000" sy="100000" kx="0" ky="0" algn="bl" rotWithShape="0" blurRad="177800" dist="38100" dir="5400000">
              <a:srgbClr val="141208">
                <a:alpha val="12000"/>
              </a:srgbClr>
            </a:outerShdw>
          </a:effectLst>
        </p:spPr>
      </p:sp>
      <p:sp>
        <p:nvSpPr>
          <p:cNvPr id="14" name="dot3"/>
          <p:cNvSpPr/>
          <p:nvPr/>
        </p:nvSpPr>
        <p:spPr>
          <a:xfrm>
            <a:off x="6487668" y="1965960"/>
            <a:ext cx="365760" cy="365760"/>
          </a:xfrm>
          <a:prstGeom prst="ellipse">
            <a:avLst/>
          </a:prstGeom>
          <a:solidFill>
            <a:srgbClr val="FFC80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87668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50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487668" y="2459736"/>
            <a:ext cx="200025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Screening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487668" y="2825496"/>
            <a:ext cx="20002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F6A5D"/>
                </a:solidFill>
              </a:rPr>
              <a:t>What we check before anyone reaches your inbox.</a:t>
            </a:r>
            <a:endParaRPr lang="en-US" sz="1250" dirty="0"/>
          </a:p>
        </p:txBody>
      </p:sp>
      <p:sp>
        <p:nvSpPr>
          <p:cNvPr id="18" name="card4"/>
          <p:cNvSpPr/>
          <p:nvPr/>
        </p:nvSpPr>
        <p:spPr>
          <a:xfrm>
            <a:off x="9018270" y="1691640"/>
            <a:ext cx="2512314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E7E3D8"/>
            </a:solidFill>
            <a:prstDash val="solid"/>
          </a:ln>
          <a:effectLst>
            <a:outerShdw sx="100000" sy="100000" kx="0" ky="0" algn="bl" rotWithShape="0" blurRad="177800" dist="38100" dir="5400000">
              <a:srgbClr val="141208">
                <a:alpha val="12000"/>
              </a:srgbClr>
            </a:outerShdw>
          </a:effectLst>
        </p:spPr>
      </p:sp>
      <p:sp>
        <p:nvSpPr>
          <p:cNvPr id="19" name="dot4"/>
          <p:cNvSpPr/>
          <p:nvPr/>
        </p:nvSpPr>
        <p:spPr>
          <a:xfrm>
            <a:off x="9274302" y="1965960"/>
            <a:ext cx="365760" cy="365760"/>
          </a:xfrm>
          <a:prstGeom prst="ellipse">
            <a:avLst/>
          </a:prstGeom>
          <a:solidFill>
            <a:srgbClr val="FFC800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274302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50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9274302" y="2459736"/>
            <a:ext cx="200025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Onboarding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9274302" y="2825496"/>
            <a:ext cx="20002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F6A5D"/>
                </a:solidFill>
              </a:rPr>
              <a:t>Day one, compliance, and who owns it.</a:t>
            </a:r>
            <a:endParaRPr lang="en-US" sz="1250" dirty="0"/>
          </a:p>
        </p:txBody>
      </p:sp>
      <p:sp>
        <p:nvSpPr>
          <p:cNvPr id="23" name="Text 0"/>
          <p:cNvSpPr/>
          <p:nvPr>
            <p:ph idx="102" hasCustomPrompt="1"/>
          </p:nvPr>
        </p:nvSpPr>
        <p:spPr>
          <a:xfrm>
            <a:off x="658368" y="6108192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58368" y="475488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chemeClr val="tx1"/>
                </a:solidFill>
              </a:rPr>
              <a:t>What that has looked like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82880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600" dirty="0">
                <a:solidFill>
                  <a:srgbClr val="FFC800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00</a:t>
            </a:r>
            <a:endParaRPr lang="en-US" sz="76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314553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6F6A5D"/>
                </a:solidFill>
              </a:rPr>
              <a:t>DAYS TO FIRST SLATE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3401568" y="182880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600" dirty="0">
                <a:solidFill>
                  <a:srgbClr val="FFC800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00%</a:t>
            </a:r>
            <a:endParaRPr lang="en-US" sz="7600" dirty="0"/>
          </a:p>
        </p:txBody>
      </p:sp>
      <p:sp>
        <p:nvSpPr>
          <p:cNvPr id="6" name="Text 4"/>
          <p:cNvSpPr txBox="1"/>
          <p:nvPr/>
        </p:nvSpPr>
        <p:spPr>
          <a:xfrm>
            <a:off x="3401568" y="314553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6F6A5D"/>
                </a:solidFill>
              </a:rPr>
              <a:t>FILL RATE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144768" y="182880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600" dirty="0">
                <a:solidFill>
                  <a:srgbClr val="FFC800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00</a:t>
            </a:r>
            <a:endParaRPr lang="en-US" sz="7600" dirty="0"/>
          </a:p>
        </p:txBody>
      </p:sp>
      <p:sp>
        <p:nvSpPr>
          <p:cNvPr id="8" name="Text 6"/>
          <p:cNvSpPr txBox="1"/>
          <p:nvPr/>
        </p:nvSpPr>
        <p:spPr>
          <a:xfrm>
            <a:off x="6144768" y="314553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6F6A5D"/>
                </a:solidFill>
              </a:rPr>
              <a:t>PLACED IN 12 MONTHS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887968" y="182880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600" dirty="0">
                <a:solidFill>
                  <a:srgbClr val="FFC800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00%</a:t>
            </a:r>
            <a:endParaRPr lang="en-US" sz="7600" dirty="0"/>
          </a:p>
        </p:txBody>
      </p:sp>
      <p:sp>
        <p:nvSpPr>
          <p:cNvPr id="10" name="Text 8"/>
          <p:cNvSpPr txBox="1"/>
          <p:nvPr/>
        </p:nvSpPr>
        <p:spPr>
          <a:xfrm>
            <a:off x="8887968" y="314553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6F6A5D"/>
                </a:solidFill>
              </a:rPr>
              <a:t>STILL THERE AT 6 MONTHS</a:t>
            </a:r>
            <a:endParaRPr lang="en-US" sz="1200" dirty="0"/>
          </a:p>
        </p:txBody>
      </p:sp>
      <p:sp>
        <p:nvSpPr>
          <p:cNvPr id="11" name="proofNote"/>
          <p:cNvSpPr/>
          <p:nvPr/>
        </p:nvSpPr>
        <p:spPr>
          <a:xfrm>
            <a:off x="658368" y="4069080"/>
            <a:ext cx="10872216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7E3D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60120" y="4370832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F6A5D"/>
                </a:solidFill>
              </a:rPr>
              <a:t>Use figures you can stand behind for a comparable account. Vague numbers do more harm than none.</a:t>
            </a:r>
            <a:endParaRPr lang="en-US" sz="1400" dirty="0"/>
          </a:p>
        </p:txBody>
      </p:sp>
      <p:sp>
        <p:nvSpPr>
          <p:cNvPr id="13" name="Text 0"/>
          <p:cNvSpPr/>
          <p:nvPr>
            <p:ph idx="102" hasCustomPrompt="1"/>
          </p:nvPr>
        </p:nvSpPr>
        <p:spPr>
          <a:xfrm>
            <a:off x="658368" y="6108192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58368" y="475488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chemeClr val="tx1"/>
                </a:solidFill>
              </a:rPr>
              <a:t>What it costs</a:t>
            </a:r>
            <a:endParaRPr lang="en-US" sz="4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1737360"/>
          <a:ext cx="10872216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3831336"/>
                <a:gridCol w="292608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Service</a:t>
                      </a:r>
                      <a:endParaRPr lang="en-US" sz="14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E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Basis</a:t>
                      </a:r>
                      <a:endParaRPr lang="en-US" sz="14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E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Rate</a:t>
                      </a:r>
                      <a:endParaRPr lang="en-US" sz="14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E1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Contract staffing</a:t>
                      </a:r>
                      <a:endParaRPr lang="en-US" sz="14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Hourly bill rate</a:t>
                      </a:r>
                      <a:endParaRPr lang="en-US" sz="14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0.0x markup</a:t>
                      </a:r>
                      <a:endParaRPr lang="en-US" sz="14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Contract to hire</a:t>
                      </a:r>
                      <a:endParaRPr lang="en-US" sz="14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Converts after [N] days</a:t>
                      </a:r>
                      <a:endParaRPr lang="en-US" sz="14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Conversion fee</a:t>
                      </a:r>
                      <a:endParaRPr lang="en-US" sz="14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Direct hire</a:t>
                      </a:r>
                      <a:endParaRPr lang="en-US" sz="14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% of first-year salary</a:t>
                      </a:r>
                      <a:endParaRPr lang="en-US" sz="14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00%</a:t>
                      </a:r>
                      <a:endParaRPr lang="en-US" sz="14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658368" y="420624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A9486"/>
                </a:solidFill>
              </a:rPr>
              <a:t>Swap in the agreed commercial terms before this goes anywhere near a client.</a:t>
            </a:r>
            <a:endParaRPr lang="en-US" sz="1200" dirty="0"/>
          </a:p>
        </p:txBody>
      </p:sp>
      <p:sp>
        <p:nvSpPr>
          <p:cNvPr id="5" name="Text 0"/>
          <p:cNvSpPr/>
          <p:nvPr>
            <p:ph idx="102" hasCustomPrompt="1"/>
          </p:nvPr>
        </p:nvSpPr>
        <p:spPr>
          <a:xfrm>
            <a:off x="658368" y="6108192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58368" y="2286000"/>
            <a:ext cx="10241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6000" dirty="0">
                <a:solidFill>
                  <a:srgbClr val="FFC800"/>
                </a:solidFill>
              </a:rPr>
              <a:t>WHAT HAPPENS NEXT</a:t>
            </a:r>
            <a:endParaRPr lang="en-US" sz="6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58368" y="388620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700" dirty="0">
                <a:solidFill>
                  <a:srgbClr val="C9C3B4"/>
                </a:solidFill>
              </a:rPr>
              <a:t>End on a dated, specific next step with a name against it. Not “let us know”.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park Companies">
  <a:themeElements>
    <a:clrScheme name="Spark Companies">
      <a:dk1>
        <a:srgbClr val="0D0E1A"/>
      </a:dk1>
      <a:lt1>
        <a:srgbClr val="FFFFFF"/>
      </a:lt1>
      <a:dk2>
        <a:srgbClr val="3B3527"/>
      </a:dk2>
      <a:lt2>
        <a:srgbClr val="FAF9F6"/>
      </a:lt2>
      <a:accent1>
        <a:srgbClr val="FFC800"/>
      </a:accent1>
      <a:accent2>
        <a:srgbClr val="FFD513"/>
      </a:accent2>
      <a:accent3>
        <a:srgbClr val="FCD20E"/>
      </a:accent3>
      <a:accent4>
        <a:srgbClr val="EC8F2F"/>
      </a:accent4>
      <a:accent5>
        <a:srgbClr val="0C2745"/>
      </a:accent5>
      <a:accent6>
        <a:srgbClr val="3D3D3D"/>
      </a:accent6>
      <a:hlink>
        <a:srgbClr val="7A5D00"/>
      </a:hlink>
      <a:folHlink>
        <a:srgbClr val="9A9486"/>
      </a:folHlink>
    </a:clrScheme>
    <a:fontScheme name="Spark Companies">
      <a:majorFont>
        <a:latin typeface="Bebas Neu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entury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Spark Companies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Spark Companies template</dc:title>
  <dc:subject>PptxGenJS Presentation</dc:subject>
  <dc:creator>Spark Companies</dc:creator>
  <cp:lastModifiedBy>Spark Companies</cp:lastModifiedBy>
  <cp:revision>1</cp:revision>
  <dcterms:created xsi:type="dcterms:W3CDTF">2026-10-22T01:05:56Z</dcterms:created>
  <dcterms:modified xsi:type="dcterms:W3CDTF">2026-10-22T01:05:56Z</dcterms:modified>
</cp:coreProperties>
</file>